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34455" y="234461"/>
            <a:ext cx="11722783" cy="6846276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911" y="356381"/>
            <a:ext cx="3938855" cy="4689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6A34A"/>
                </a:solidFill>
              </a:defRPr>
            </a:pPr>
            <a:r>
              <a:t>Boomi Database V2 Migration Agent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End-to-End Modernization Suite: Legacy Database → Database V2 (officialboomi-X3979C-dbv2da-prod)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95331" y="300110"/>
            <a:ext cx="2156992" cy="54395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🖥️ Migration Hub UI</a:t>
            </a:r>
          </a:p>
          <a:p>
            <a:pPr algn="ctr">
              <a:defRPr sz="850">
                <a:solidFill>
                  <a:srgbClr val="15803D"/>
                </a:solidFill>
              </a:defRPr>
            </a:pPr>
            <a:r>
              <a:t>Mode A (Single) | Mode B (Bulk Folder)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15533" y="300110"/>
            <a:ext cx="2954141" cy="58146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334155"/>
                </a:solidFill>
              </a:defRPr>
            </a:pPr>
            <a:r>
              <a:t>🔴 Primary Flow    🔵 Discovery Flow</a:t>
            </a:r>
          </a:p>
          <a:p>
            <a:pPr>
              <a:defRPr sz="850" b="1">
                <a:solidFill>
                  <a:srgbClr val="334155"/>
                </a:solidFill>
              </a:defRPr>
            </a:pPr>
            <a:r>
              <a:t>🟠 Transformation Flow    🟢 Deployment Response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020" y="984738"/>
            <a:ext cx="11347654" cy="5955323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584" y="1050387"/>
            <a:ext cx="3563726" cy="3751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🤖 AI-Engine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MigrationTools Orchestration &amp; API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1189" y="2016369"/>
            <a:ext cx="1500516" cy="1125415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⚛️ Boomi Runtime Engine</a:t>
            </a:r>
          </a:p>
          <a:p>
            <a:pPr algn="ctr">
              <a:defRPr sz="850">
                <a:solidFill>
                  <a:srgbClr val="0284C7"/>
                </a:solidFill>
              </a:defRPr>
            </a:pPr>
            <a:r>
              <a:t>FastAPI Migration Hub</a:t>
            </a:r>
            <a:br/>
            <a:r>
              <a:t>SSE Live Event Stream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4972" y="3704492"/>
            <a:ext cx="1312951" cy="515815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↕️ Metadata Exchange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Component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12951" y="4783015"/>
            <a:ext cx="2156992" cy="1172307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369A1"/>
                </a:solidFill>
              </a:defRPr>
            </a:pPr>
            <a:r>
              <a:t>☁️ Boomi Enterprise Platform</a:t>
            </a:r>
          </a:p>
          <a:p>
            <a:pPr algn="ctr">
              <a:defRPr sz="850">
                <a:solidFill>
                  <a:srgbClr val="0F172A"/>
                </a:solidFill>
              </a:defRPr>
            </a:pPr>
            <a:r>
              <a:t>AtomSphere Integration APIs</a:t>
            </a:r>
            <a:br/>
            <a:r>
              <a:t>Branch: dbv2_merging</a:t>
            </a:r>
            <a:br/>
            <a:r>
              <a:t>🛡️ Main Branch Guard: Active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3984" y="1125415"/>
            <a:ext cx="7268125" cy="2110153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4657" y="1181686"/>
            <a:ext cx="6939888" cy="2813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Knowledge-Base — Hierarchical Subfolder Discovery &amp; Where-Used Dependency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48440" y="1547446"/>
            <a:ext cx="984713" cy="1172307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📁</a:t>
            </a:r>
            <a:br/>
            <a:r>
              <a:t>Subfolder Audit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Recursive parentId</a:t>
            </a:r>
            <a:br/>
            <a:r>
              <a:t>Tree &amp; Rollups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73827" y="1547446"/>
            <a:ext cx="984713" cy="1172307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🔍</a:t>
            </a:r>
            <a:br/>
            <a:r>
              <a:t>DB Discovery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Legacy Conns/Opers</a:t>
            </a:r>
            <a:br/>
            <a:r>
              <a:t>&amp; profile.db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99214" y="1547446"/>
            <a:ext cx="1031604" cy="1172307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🔗</a:t>
            </a:r>
            <a:br/>
            <a:r>
              <a:t>Where-Used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ComponentReference</a:t>
            </a:r>
            <a:br/>
            <a:r>
              <a:t>Maps/Caches/Processes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1493" y="1688123"/>
            <a:ext cx="797149" cy="890953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D4ED8"/>
                </a:solidFill>
              </a:defRPr>
            </a:pPr>
            <a:r>
              <a:t>🗄️</a:t>
            </a:r>
            <a:br/>
            <a:r>
              <a:t>Metadata DB</a:t>
            </a:r>
            <a:br/>
            <a:r>
              <a:t>Cache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9315" y="1547446"/>
            <a:ext cx="797149" cy="1172307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🛡️</a:t>
            </a:r>
            <a:br/>
            <a:r>
              <a:t>Non-DB Filter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Preserve Disk/HTTP</a:t>
            </a:r>
            <a:br/>
            <a:r>
              <a:t>&amp; SFTP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00247" y="1547446"/>
            <a:ext cx="844040" cy="1172307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⚖️</a:t>
            </a:r>
            <a:br/>
            <a:r>
              <a:t>Action Classify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Dynamic Update/Insert</a:t>
            </a:r>
            <a:br/>
            <a:r>
              <a:t>Delete / 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38070" y="1547446"/>
            <a:ext cx="750258" cy="1172307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📑</a:t>
            </a:r>
            <a:br/>
            <a:r>
              <a:t>Scope Inventory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Feature Branch</a:t>
            </a:r>
            <a:br/>
            <a:r>
              <a:t>Component XMLs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1548" y="2860430"/>
            <a:ext cx="6939888" cy="23446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563EB"/>
                </a:solidFill>
              </a:defRPr>
            </a:pPr>
            <a:r>
              <a:t>• Discovers all 6 component tiers: Connections, Operations, Profiles, Maps, Caches, and DB Processes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3984" y="3376246"/>
            <a:ext cx="7268125" cy="342313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4657" y="3451273"/>
            <a:ext cx="6939888" cy="2813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97316"/>
                </a:solidFill>
              </a:defRPr>
            </a:pPr>
            <a:r>
              <a:t>AI-Reasoning — Database V2 Modernization Cycle (officialboomi-X3979C-dbv2da-prod)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5690" y="4689230"/>
            <a:ext cx="984713" cy="844061"/>
          </a:xfrm>
          <a:prstGeom prst="roundRect">
            <a:avLst/>
          </a:prstGeom>
          <a:solidFill>
            <a:srgbClr val="FFEDD5"/>
          </a:solidFill>
          <a:ln w="317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2410C"/>
                </a:solidFill>
              </a:defRPr>
            </a:pPr>
            <a:r>
              <a:t>⚡</a:t>
            </a:r>
            <a:br/>
            <a:r>
              <a:t>DB V2</a:t>
            </a:r>
            <a:br/>
            <a:r>
              <a:t>ENGINE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48440" y="3892061"/>
            <a:ext cx="2203883" cy="103163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A3412"/>
                </a:solidFill>
              </a:defRPr>
            </a:pPr>
            <a:r>
              <a:t>🔌 1. Connection Modernization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Convert Legacy JDBC Settings</a:t>
            </a:r>
            <a:br/>
            <a:r>
              <a:t>officialboomi-X3979C-dbv2da-prod</a:t>
            </a:r>
            <a:br/>
            <a:r>
              <a:t>Host, Port, DB, User credentials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86779" y="3892061"/>
            <a:ext cx="2203883" cy="103163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A3412"/>
                </a:solidFill>
              </a:defRPr>
            </a:pPr>
            <a:r>
              <a:t>📄 2. Profile → JSON Synthesis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profile.db → JSON Profiles</a:t>
            </a:r>
            <a:br/>
            <a:r>
              <a:t>JSONRootValue &gt; Object &gt; Entries</a:t>
            </a:r>
            <a:br/>
            <a:r>
              <a:t>Nullable &amp; DataType mapping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25118" y="3892061"/>
            <a:ext cx="2203883" cy="103163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A3412"/>
                </a:solidFill>
              </a:defRPr>
            </a:pPr>
            <a:r>
              <a:t>⚙️ 3. Operation Assembly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GenericOperationConfig &amp; objectTypeId</a:t>
            </a:r>
            <a:br/>
            <a:r>
              <a:t>Link Req &amp; Resp JSON Profiles</a:t>
            </a:r>
            <a:br/>
            <a:r>
              <a:t>Custom SQL Query / SP configuration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48440" y="5580184"/>
            <a:ext cx="2203883" cy="103163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A3412"/>
                </a:solidFill>
              </a:defRPr>
            </a:pPr>
            <a:r>
              <a:t>🔄 6. Process Shape Re-Wiring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Rewire &lt;connectoraction&gt; Shapes</a:t>
            </a:r>
            <a:br/>
            <a:r>
              <a:t>Set dbv2da-prod action type</a:t>
            </a:r>
            <a:br/>
            <a:r>
              <a:t>Psiog Peer Review Standards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86779" y="5580184"/>
            <a:ext cx="2203883" cy="103163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A3412"/>
                </a:solidFill>
              </a:defRPr>
            </a:pPr>
            <a:r>
              <a:t>🔀 5. Map Shape Re-Wiring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Swap fromProfile / toProfile to JSON</a:t>
            </a:r>
            <a:br/>
            <a:r>
              <a:t>Remap field keys &amp; key paths</a:t>
            </a:r>
            <a:br/>
            <a:r>
              <a:t>Retain user functions &amp; lookups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25118" y="5580184"/>
            <a:ext cx="2203883" cy="103163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A3412"/>
                </a:solidFill>
              </a:defRPr>
            </a:pPr>
            <a:r>
              <a:t>🧠 4. Dynamic SQL Synthesis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Prepared Statements &amp; WHERE Logic</a:t>
            </a:r>
            <a:br/>
            <a:r>
              <a:t>Conditions: =, &lt;&gt;, &gt;, &lt;, LIKE</a:t>
            </a:r>
            <a:br/>
            <a:r>
              <a:t>Parameter binding &amp; Type casting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35488" y="1641230"/>
            <a:ext cx="984713" cy="375138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991B1B"/>
                </a:solidFill>
              </a:defRPr>
            </a:pPr>
            <a:r>
              <a:t>🛡️ Feed to KB</a:t>
            </a:r>
            <a:br/>
            <a:r>
              <a:t>(Firewall Guard)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35488" y="2672861"/>
            <a:ext cx="984713" cy="328246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991B1B"/>
                </a:solidFill>
              </a:defRPr>
            </a:pPr>
            <a:r>
              <a:t>⬅️ Fetch from KB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35488" y="4173415"/>
            <a:ext cx="984713" cy="328246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C2410C"/>
                </a:solidFill>
              </a:defRPr>
            </a:pPr>
            <a:r>
              <a:t>➡️ Invoke AI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35488" y="5298830"/>
            <a:ext cx="984713" cy="328246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5803D"/>
                </a:solidFill>
              </a:defRPr>
            </a:pPr>
            <a:r>
              <a:t>⬅️ AI Response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